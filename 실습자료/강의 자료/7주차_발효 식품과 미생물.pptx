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 (예시 값)</c:v>
                </c:pt>
              </c:strCache>
            </c:strRef>
          </c:tx>
          <c:spPr>
            <a:ln w="38100">
              <a:solidFill>
                <a:srgbClr val="1F3A5F"/>
              </a:solidFill>
            </a:ln>
          </c:spPr>
          <c:cat>
            <c:strRef>
              <c:f>Sheet1!$A$2:$A$7</c:f>
              <c:strCache>
                <c:ptCount val="6"/>
                <c:pt idx="0">
                  <c:v>담근 날</c:v>
                </c:pt>
                <c:pt idx="1">
                  <c:v>2일</c:v>
                </c:pt>
                <c:pt idx="2">
                  <c:v>4일</c:v>
                </c:pt>
                <c:pt idx="3">
                  <c:v>7일</c:v>
                </c:pt>
                <c:pt idx="4">
                  <c:v>10일</c:v>
                </c:pt>
                <c:pt idx="5">
                  <c:v>14일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5.8</c:v>
                </c:pt>
                <c:pt idx="1">
                  <c:v>5.0</c:v>
                </c:pt>
                <c:pt idx="2">
                  <c:v>4.5</c:v>
                </c:pt>
                <c:pt idx="3">
                  <c:v>4.2</c:v>
                </c:pt>
                <c:pt idx="4">
                  <c:v>4.0</c:v>
                </c:pt>
                <c:pt idx="5">
                  <c:v>3.9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.0"/>
          <c:min val="3.5"/>
        </c:scaling>
        <c:delete val="0"/>
        <c:axPos val="l"/>
        <c:majorGridlines>
          <c:spPr>
            <a:ln>
              <a:solidFill>
                <a:srgbClr val="D8DEE6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300"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두세 명에게 «김치가 시어지는 이유»를 먼저 묻고 답을 칠판에 적어 둔다. 수업 끝 정리 장에서 다시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1 ② · 2 젖산균 / 젖산 · 3 젖산균이 가장 잘 자라는 온도라서 빨리 발효된다.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6400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5A8A"/>
                </a:solidFill>
                <a:latin typeface="Pretendard"/>
                <a:ea typeface="Pretendard"/>
                <a:cs typeface="Pretendard"/>
              </a:rPr>
              <a:t>생활 속 미생물 · 2027학년도 1학기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658368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7주차</a:t>
            </a:r>
          </a:p>
          <a:p>
            <a:pPr algn="l">
              <a:lnSpc>
                <a:spcPct val="110000"/>
              </a:lnSpc>
            </a:pPr>
            <a:r>
              <a:rPr sz="46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발효 식품과 미생물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5943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김치는 왜 시어지고 요구르트는 왜 걸쭉해질까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00600"/>
            <a:ext cx="731520" cy="45720"/>
          </a:xfrm>
          <a:prstGeom prst="rect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한울대학교 · 김한울 (가상)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7220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※ 실습용 가상 자료입니다. 실제 기관 · 인물과 관계없습니다.</a:t>
            </a:r>
          </a:p>
        </p:txBody>
      </p:sp>
      <p:pic>
        <p:nvPicPr>
          <p:cNvPr id="10" name="Picture 9" descr="kimc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17320"/>
            <a:ext cx="512064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생활 속 미생물 · 7주차 · 발효 식품과 미생물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오늘의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6035040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5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김치는 </a:t>
            </a:r>
            <a:r>
              <a:rPr sz="50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왜</a:t>
            </a:r>
          </a:p>
          <a:p>
            <a:pPr algn="l">
              <a:lnSpc>
                <a:spcPct val="110000"/>
              </a:lnSpc>
            </a:pPr>
            <a:r>
              <a:rPr sz="5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시어질까?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77639"/>
            <a:ext cx="54864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갓 담근 김치는 짜고 아삭합니다.</a:t>
            </a:r>
          </a:p>
          <a:p>
            <a:pPr algn="l">
              <a:lnSpc>
                <a:spcPct val="145000"/>
              </a:lnSpc>
            </a:pPr>
            <a:r>
              <a:rPr sz="17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일주일쯤 지나면 새콤해지고 한 달이 지나면 «신 김치»가 됩니다.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sz="1700" b="1">
                <a:solidFill>
                  <a:srgbClr val="2E5A8A"/>
                </a:solidFill>
                <a:latin typeface="Pretendard"/>
                <a:ea typeface="Pretendard"/>
                <a:cs typeface="Pretendard"/>
              </a:rPr>
              <a:t>수업이 끝나면 이 변화를 미생물로 설명할 수 있습니다.</a:t>
            </a:r>
          </a:p>
        </p:txBody>
      </p:sp>
      <p:pic>
        <p:nvPicPr>
          <p:cNvPr id="9" name="Picture 8" descr="kimc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12064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오늘의 학습목표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생활 속 미생물 · 7주차 · 발효 식품과 미생물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103120"/>
            <a:ext cx="685800" cy="6858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685800" cy="6858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260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발효와 부패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29260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발효와 부패의 차이를 설명한다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2103120"/>
            <a:ext cx="685800" cy="6858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103120"/>
            <a:ext cx="685800" cy="6858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63240"/>
            <a:ext cx="29260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젖산균의 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657600"/>
            <a:ext cx="29260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젖산균이 당을 젖산으로 바꾸는 과정을 설명한다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75320" y="2103120"/>
            <a:ext cx="685800" cy="6858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103120"/>
            <a:ext cx="685800" cy="6858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063240"/>
            <a:ext cx="29260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온도와 속도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657600"/>
            <a:ext cx="29260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온도가 발효 속도에 주는 영향을 생활 속 예로 설명한다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다음 주 중간고사 범위는 1~7주차입니다. 오늘 세 목표가 서술형으로 나올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발효란 무엇인가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생활 속 미생물 · 7주차 · 발효 식품과 미생물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10817352" cy="1234440"/>
          </a:xfrm>
          <a:prstGeom prst="roundRect">
            <a:avLst>
              <a:gd name="adj" fmla="val 8000"/>
            </a:avLst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10241280" cy="9144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발효</a:t>
            </a:r>
            <a:r>
              <a:rPr sz="2200" b="1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 미생물이 음식 속 물질을 분해해 사람에게 </a:t>
            </a:r>
            <a:r>
              <a:rPr sz="22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이로운</a:t>
            </a:r>
            <a:r>
              <a:rPr sz="2200" b="1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 물질을 만드는 과정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46120"/>
            <a:ext cx="53035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447288"/>
            <a:ext cx="48463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같은 «분해»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14215"/>
            <a:ext cx="4846320" cy="17007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발효도 부패도 미생물이 유기물을 분해하는 일입니다. 미생물 입장에서는 둘 다 먹고 사는 일입니다.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246120"/>
            <a:ext cx="53035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3447288"/>
            <a:ext cx="48463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갈리는 것은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4014215"/>
            <a:ext cx="4846320" cy="17007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만들어진 물질이 사람에게 이로우면 발효, 해롭거나 악취가 나면 부패라고 부릅니다.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발효와 부패, 무엇이 다른가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생활 속 미생물 · 7주차 · 발효 식품과 미생물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5 / 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783080"/>
          <a:ext cx="67665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2377440"/>
              </a:tblGrid>
              <a:tr h="768096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발효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부패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주로 일하는 미생물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3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젖산균 · 효모 · 누룩곰팡이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3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부패균(여러 세균)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만들어지는 것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3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젖산 · 알코올 · 이산화탄소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3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암모니아 · 황화수소 같은 악취 물질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사람에게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3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맛과 보존성이 좋아진다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3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먹으면 탈이 날 수 있다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A5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3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김치 · 요구르트 · 된장 · 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3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상한 우유 · 썩은 생선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ferment-vs-spo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965960"/>
            <a:ext cx="3840480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26679" y="4754880"/>
            <a:ext cx="384048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같은 우유도 젖산균이 자라면 요구르트, 부패균이 자라면 상한 우유가 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KEY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젖산균은 당을 먹고 젖산을 만든다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생활 속 미생물 · 7주차 · 발효 식품과 미생물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6 / 15</a:t>
            </a:r>
          </a:p>
        </p:txBody>
      </p:sp>
      <p:pic>
        <p:nvPicPr>
          <p:cNvPr id="8" name="Picture 7" descr="lac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5852160" cy="3901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49440" y="1691640"/>
            <a:ext cx="4572000" cy="10972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801368"/>
            <a:ext cx="411480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240280"/>
            <a:ext cx="4114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배추 · 우유에 든 포도당 · 젖당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715768"/>
            <a:ext cx="457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3063240"/>
            <a:ext cx="4572000" cy="10972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3172968"/>
            <a:ext cx="411480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젖산균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611880"/>
            <a:ext cx="4114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당을 분해해 에너지를 얻는다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4087368"/>
            <a:ext cx="457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4434840"/>
            <a:ext cx="4572000" cy="1097280"/>
          </a:xfrm>
          <a:prstGeom prst="roundRect">
            <a:avLst>
              <a:gd name="adj" fmla="val 8000"/>
            </a:avLst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4544568"/>
            <a:ext cx="411480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젖산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983479"/>
            <a:ext cx="4114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신맛을 내는 산이 쌓인다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40680"/>
            <a:ext cx="58521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김치의 젖산균 가운데 일부는 이산화탄소도 함께 만들어 «톡 쏘는 맛»을 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김치가 익을수록 pH가 내려간다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생활 속 미생물 · 7주차 · 발효 식품과 미생물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7 / 15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600200"/>
          <a:ext cx="69494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955279" y="169164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BF4EC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1" y="1892808"/>
            <a:ext cx="31089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맛있게 익은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1" y="2459736"/>
            <a:ext cx="3108960" cy="969263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pH가 4.2~4.5 무렵일 때 새콤한 맛이 알맞다고 흔히 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79476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1" y="3995928"/>
            <a:ext cx="31089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너무 시어진 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1" y="4562856"/>
            <a:ext cx="3108960" cy="9692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pH 4 안팎으로 내려가면 «신 김치». 찌개 · 볶음에 쓰기 좋습니다.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97880"/>
            <a:ext cx="6949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그래프 값은 실온 보관을 가정한 수업용 예시 값입니다.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WHY IT KEEPS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산성이 된 김치는 쉽게 상하지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생활 속 미생물 · 7주차 · 발효 식품과 미생물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8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429000" cy="32918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9144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E5A8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29260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젖산이 쌓인다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26080" cy="1554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익을수록 젖산이 늘어 pH가 낮아집니다.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429000" cy="32918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11680"/>
            <a:ext cx="9144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2E5A8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97480"/>
            <a:ext cx="29260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부패균이 버티기 어렵다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337560"/>
            <a:ext cx="2926080" cy="1554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음식을 상하게 하는 세균 대부분은 산성 환경에서 잘 자라지 못합니다.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783080"/>
            <a:ext cx="3429000" cy="3291840"/>
          </a:xfrm>
          <a:prstGeom prst="roundRect">
            <a:avLst>
              <a:gd name="adj" fmla="val 8000"/>
            </a:avLst>
          </a:prstGeom>
          <a:solidFill>
            <a:srgbClr val="FBF4EC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011680"/>
            <a:ext cx="9144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697480"/>
            <a:ext cx="29260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그래서 오래 둔다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337560"/>
            <a:ext cx="2926080" cy="1554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냉장고가 없던 시절에도 김치로 겨울 채소를 보관할 수 있었던 까닭입니다.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발효는 맛을 바꾸는 일이면서 </a:t>
            </a:r>
            <a:r>
              <a:rPr sz="19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음식을 지키는 일</a:t>
            </a:r>
            <a:r>
              <a:rPr sz="19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이기도 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TEMPERATURE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따뜻할수록 빨리 익는다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생활 속 미생물 · 7주차 · 발효 식품과 미생물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9 / 15</a:t>
            </a:r>
          </a:p>
        </p:txBody>
      </p:sp>
      <p:pic>
        <p:nvPicPr>
          <p:cNvPr id="8" name="Picture 7" descr="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4206240" cy="420624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0" y="1783080"/>
          <a:ext cx="6035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</a:tblGrid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보관 온도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김치가 익는 속도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3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실온(20℃ 안팎)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3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하루이틀이면 새콤해진다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3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서늘한 곳(10℃ 안팎)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3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며칠에서 일주일 넘게 천천히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3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냉장(0~4℃)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3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몇 주에 걸쳐 아주 천천히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0" y="4343400"/>
            <a:ext cx="6035040" cy="1508760"/>
          </a:xfrm>
          <a:prstGeom prst="roundRect">
            <a:avLst>
              <a:gd name="adj" fmla="val 8000"/>
            </a:avLst>
          </a:prstGeom>
          <a:solidFill>
            <a:srgbClr val="FBF4EC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4544568"/>
            <a:ext cx="55778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요구르트는 일부러 따뜻하게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2" y="5111496"/>
            <a:ext cx="5577840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우유에 젖산균을 넣고 40~45℃로 몇 시간 두면 젖산균이 빠르게 늘어 걸쭉해집니다.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5961888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익는 속도는 양념 · 소금 양에 따라서도 달라집니다.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EVERYDAY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우리 식탁의 발효 식품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생활 속 미생물 · 7주차 · 발효 식품과 미생물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10 / 15</a:t>
            </a:r>
          </a:p>
        </p:txBody>
      </p:sp>
      <p:pic>
        <p:nvPicPr>
          <p:cNvPr id="8" name="Picture 7" descr="fo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463040"/>
            <a:ext cx="4800600" cy="3200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484632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956048"/>
            <a:ext cx="2011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된장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413248"/>
            <a:ext cx="2011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고초균 · 누룩곰팡이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484632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4956048"/>
            <a:ext cx="2011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막걸리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5413248"/>
            <a:ext cx="2011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효모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484632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8344" y="4956048"/>
            <a:ext cx="2011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치즈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5413248"/>
            <a:ext cx="2011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젖산균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14616" y="484632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4616" y="4956048"/>
            <a:ext cx="2011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4616" y="5413248"/>
            <a:ext cx="2011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효모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90888" y="484632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4956048"/>
            <a:ext cx="2011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요구르트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5413248"/>
            <a:ext cx="20116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젖산균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효모와 젖산균은 만드는 것이 다르다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생활 속 미생물 · 7주차 · 발효 식품과 미생물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11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303520" cy="42519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7548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효모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곰팡이와 같은 무리의 미생물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4754880" cy="2651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•  당을 분해해 알코올과 이산화탄소를 만든다</a:t>
            </a:r>
          </a:p>
          <a:p>
            <a:pPr algn="l">
              <a:lnSpc>
                <a:spcPct val="160000"/>
              </a:lnSpc>
            </a:pPr>
            <a:r>
              <a:rPr sz="17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•  빵 반죽이 부푸는 것은 이산화탄소 때문</a:t>
            </a:r>
          </a:p>
          <a:p>
            <a:pPr algn="l">
              <a:lnSpc>
                <a:spcPct val="160000"/>
              </a:lnSpc>
            </a:pPr>
            <a:r>
              <a:rPr sz="17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•  막걸리 · 맥주 · 와인의 알코올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91640"/>
            <a:ext cx="5303520" cy="4251960"/>
          </a:xfrm>
          <a:prstGeom prst="roundRect">
            <a:avLst>
              <a:gd name="adj" fmla="val 8000"/>
            </a:avLst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920240"/>
            <a:ext cx="47548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젖산균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542032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세균의 한 무리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108960"/>
            <a:ext cx="4754880" cy="2651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•  당을 분해해 젖산을 만든다</a:t>
            </a:r>
          </a:p>
          <a:p>
            <a:pPr algn="l">
              <a:lnSpc>
                <a:spcPct val="160000"/>
              </a:lnSpc>
            </a:pPr>
            <a:r>
              <a:rPr sz="17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•  김치 · 요구르트가 새콤해지는 까닭</a:t>
            </a:r>
          </a:p>
          <a:p>
            <a:pPr algn="l">
              <a:lnSpc>
                <a:spcPct val="160000"/>
              </a:lnSpc>
            </a:pPr>
            <a:r>
              <a:rPr sz="17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•  산성이 되어 다른 균이 잘 자라지 못한다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자주 하는 실수: «김치는 효모가 발효시킨다». 김치를 시게 만드는 주인공은 젖산균입니다.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IN DAILY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김치를 맛있게 오래 두려면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생활 속 미생물 · 7주차 · 발효 식품과 미생물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12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4290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84248"/>
            <a:ext cx="2971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차갑게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551176"/>
            <a:ext cx="2971800" cy="2203703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냉장 보관하면 젖산균이 천천히 일해 맛있는 때가 길어집니다.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4290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984248"/>
            <a:ext cx="2971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공기를 막고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551176"/>
            <a:ext cx="2971800" cy="2203703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김치를 국물에 잠기게 눌러 두고 뚜껑을 꼭 닫습니다. 표면의 하얀 막(효모)이 덜 생깁니다.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83080"/>
            <a:ext cx="34290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984248"/>
            <a:ext cx="2971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덜어 먹기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551176"/>
            <a:ext cx="2971800" cy="2203703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먹을 만큼 덜어 내고 큰 통은 자주 열지 않습니다.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800"/>
            <a:ext cx="107899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너무 시어진 김치는 버리지 말고 찌개 · 볶음밥에 씁니다. 상한 것이 아니라 </a:t>
            </a:r>
            <a:r>
              <a:rPr sz="17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많이 발효된 것</a:t>
            </a:r>
            <a:r>
              <a:rPr sz="17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오늘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생활 속 미생물 · 7주차 · 발효 식품과 미생물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13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10817352" cy="10972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2743200" cy="10972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발효 vs 부패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83080"/>
            <a:ext cx="7406640" cy="10972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같은 분해이고 사람에게 이로우면 발효 · 해로우면 부패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08960"/>
            <a:ext cx="1081735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2743200" cy="10972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젖산균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108960"/>
            <a:ext cx="7406640" cy="10972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당 → 젖산. 젖산이 쌓여 신맛과 산성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34840"/>
            <a:ext cx="10817352" cy="10972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2743200" cy="10972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온도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434840"/>
            <a:ext cx="7406640" cy="10972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따뜻할수록 빨리 익는다. 냉장은 발효를 늦춘다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처음 질문 «김치는 왜 시어질까?»에 이제 답해 보세요.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생활 속 미생물 · 7주차 · 발효 식품과 미생물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14 / 15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737360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64008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19072"/>
            <a:ext cx="9875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다음 중 발효에 해당하는 것은?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40280"/>
            <a:ext cx="9875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① 냉장고 속 빵에 핀 곰팡이   ② 요구르트가 되는 우유   ③ 상온에 둔 생선의 악취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154680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54680"/>
            <a:ext cx="64008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36392"/>
            <a:ext cx="9875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김치를 시게 만드는 물질과 미생물을 짝지어 쓰시오.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57600"/>
            <a:ext cx="9875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(            )이 만드는 (            )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572000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72000"/>
            <a:ext cx="64008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53712"/>
            <a:ext cx="9875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요구르트를 만들 때 40℃ 안팎으로 두는 까닭은?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74920"/>
            <a:ext cx="9875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한 문장으로 쓰시오.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생활 속 미생물 · 7주차 · 발효 식품과 미생물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B727C"/>
                </a:solidFill>
                <a:latin typeface="Pretendard"/>
                <a:ea typeface="Pretendard"/>
                <a:cs typeface="Pretendard"/>
              </a:rPr>
              <a:t>15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"/>
            <a:ext cx="12191695" cy="626364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07899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07A2E"/>
                </a:solidFill>
                <a:latin typeface="Pretendard"/>
                <a:ea typeface="Pretendard"/>
                <a:cs typeface="Pretendard"/>
              </a:rPr>
              <a:t>다음 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107899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3A5F"/>
                </a:solidFill>
                <a:latin typeface="Pretendard"/>
                <a:ea typeface="Pretendard"/>
                <a:cs typeface="Pretendard"/>
              </a:rPr>
              <a:t>8주차 중간고사 · 1~7주차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49039"/>
            <a:ext cx="107899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객관식 · 단답형 · 서술형이 섞여 나옵니다.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1E232B"/>
                </a:solidFill>
                <a:latin typeface="Pretendard"/>
                <a:ea typeface="Pretendard"/>
                <a:cs typeface="Pretendard"/>
              </a:rPr>
              <a:t>서술형은 «원인 → 결과»를 이어 쓰는 연습을 해 오세요.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